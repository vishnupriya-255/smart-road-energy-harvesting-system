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jtte.2024.11.002?utm_source=chatgpt.com" TargetMode="External"/><Relationship Id="rId4" Type="http://schemas.openxmlformats.org/officeDocument/2006/relationships/hyperlink" Target="https://doi.org/10.1016/j.apenergy.2016.04.031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t"/>
          <a:lstStyle/>
          <a:p>
            <a:pPr algn="ctr"/>
            <a:r>
              <a:rPr sz="2600" b="1">
                <a:solidFill>
                  <a:srgbClr val="23303C"/>
                </a:solidFill>
                <a:latin typeface="Arial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9184" y="109728"/>
            <a:ext cx="10360152" cy="566928"/>
          </a:xfrm>
        </p:spPr>
        <p:txBody>
          <a:bodyPr wrap="none" anchor="ctr"/>
          <a:lstStyle/>
          <a:p>
            <a:pPr algn="ctr"/>
            <a:r>
              <a:rPr sz="2700" b="1">
                <a:solidFill>
                  <a:srgbClr val="234F82"/>
                </a:solidFill>
                <a:latin typeface="Arial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118529"/>
          </a:xfrm>
          <a:prstGeom prst="rect">
            <a:avLst/>
          </a:prstGeom>
          <a:noFill/>
        </p:spPr>
        <p:txBody>
          <a:bodyPr wrap="square" lIns="109728" rtlCol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 dirty="0">
                <a:solidFill>
                  <a:srgbClr val="23303C"/>
                </a:solidFill>
                <a:latin typeface="Arial"/>
              </a:rPr>
              <a:t>Problem Statement ID – </a:t>
            </a:r>
            <a:r>
              <a:rPr sz="1500" dirty="0">
                <a:solidFill>
                  <a:srgbClr val="23303C"/>
                </a:solidFill>
                <a:latin typeface="Arial"/>
              </a:rPr>
              <a:t>SIH26220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23303C"/>
                </a:solidFill>
                <a:latin typeface="Arial"/>
              </a:rPr>
              <a:t>Problem Statement Title – </a:t>
            </a:r>
            <a:r>
              <a:rPr lang="en-US" sz="1500" dirty="0">
                <a:solidFill>
                  <a:srgbClr val="23303C"/>
                </a:solidFill>
                <a:latin typeface="Arial"/>
              </a:rPr>
              <a:t>Smart Road Energy Harvesting System</a:t>
            </a:r>
            <a:endParaRPr sz="1500" dirty="0">
              <a:solidFill>
                <a:srgbClr val="23303C"/>
              </a:solidFill>
              <a:latin typeface="Arial"/>
            </a:endParaRP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23303C"/>
                </a:solidFill>
                <a:latin typeface="Arial"/>
              </a:rPr>
              <a:t>Theme – </a:t>
            </a:r>
            <a:r>
              <a:rPr sz="1500" dirty="0">
                <a:solidFill>
                  <a:srgbClr val="23303C"/>
                </a:solidFill>
                <a:latin typeface="Arial"/>
              </a:rPr>
              <a:t>Renewable / Sustainable Energy</a:t>
            </a: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23303C"/>
                </a:solidFill>
                <a:latin typeface="Arial"/>
              </a:rPr>
              <a:t>PS Category – </a:t>
            </a:r>
            <a:r>
              <a:rPr sz="1500" dirty="0">
                <a:solidFill>
                  <a:srgbClr val="23303C"/>
                </a:solidFill>
                <a:latin typeface="Arial"/>
              </a:rPr>
              <a:t>Hardware</a:t>
            </a: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23303C"/>
                </a:solidFill>
                <a:latin typeface="Arial"/>
              </a:rPr>
              <a:t>Team ID – </a:t>
            </a:r>
            <a:r>
              <a:rPr sz="1500" dirty="0">
                <a:solidFill>
                  <a:srgbClr val="23303C"/>
                </a:solidFill>
                <a:latin typeface="Arial"/>
              </a:rPr>
              <a:t>TO BE UPDATED</a:t>
            </a: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23303C"/>
                </a:solidFill>
                <a:latin typeface="Arial"/>
              </a:rPr>
              <a:t>Team Name – </a:t>
            </a:r>
            <a:r>
              <a:rPr sz="1500" dirty="0" err="1">
                <a:solidFill>
                  <a:srgbClr val="23303C"/>
                </a:solidFill>
                <a:latin typeface="Arial"/>
              </a:rPr>
              <a:t>Innovexa</a:t>
            </a:r>
            <a:endParaRPr sz="1500" dirty="0">
              <a:solidFill>
                <a:srgbClr val="23303C"/>
              </a:solidFill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t"/>
          <a:lstStyle/>
          <a:p>
            <a:pPr algn="ctr" eaLnBrk="1" hangingPunct="1"/>
            <a:r>
              <a:rPr sz="2600" b="1" dirty="0">
                <a:solidFill>
                  <a:srgbClr val="23303C"/>
                </a:solidFill>
                <a:latin typeface="Arial"/>
              </a:rPr>
              <a:t>IDEA TITLE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700" y="2052418"/>
            <a:ext cx="12191999" cy="2491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4F82"/>
                </a:solidFill>
                <a:latin typeface="Arial"/>
              </a:rPr>
              <a:t>Innovexa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40112" y="612907"/>
            <a:ext cx="108356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ROAD ENERGY HARVESTING FOR SMART &amp; SUSTAINABLE ROADS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430330" y="1137816"/>
            <a:ext cx="3541500" cy="1987941"/>
          </a:xfrm>
          <a:prstGeom prst="roundRect">
            <a:avLst/>
          </a:prstGeom>
          <a:solidFill>
            <a:srgbClr val="EBF6FC"/>
          </a:solidFill>
          <a:ln w="17780">
            <a:solidFill>
              <a:srgbClr val="0B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r>
              <a:rPr lang="en-US" sz="1700" b="1" dirty="0">
                <a:solidFill>
                  <a:srgbClr val="0B76B7"/>
                </a:solidFill>
                <a:latin typeface="Arial"/>
              </a:rPr>
              <a:t>              </a:t>
            </a:r>
            <a:r>
              <a:rPr sz="1700" b="1" dirty="0">
                <a:solidFill>
                  <a:srgbClr val="0B76B7"/>
                </a:solidFill>
                <a:latin typeface="Arial"/>
              </a:rPr>
              <a:t>THE IDEA</a:t>
            </a:r>
            <a:r>
              <a:rPr lang="en-IN" sz="1600" dirty="0"/>
              <a:t>I</a:t>
            </a:r>
          </a:p>
          <a:p>
            <a:r>
              <a:rPr lang="en-IN" sz="1600" dirty="0">
                <a:solidFill>
                  <a:schemeClr val="tx1"/>
                </a:solidFill>
              </a:rPr>
              <a:t>Install compact harvesting modules beneath selected road sections. As vehicles pass over them, the pressure from their wheels creates mechanical movement that is converted into usable electrical energy.</a:t>
            </a:r>
            <a:endParaRPr sz="17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5366" name="Rounded Rectangle 15365"/>
          <p:cNvSpPr/>
          <p:nvPr/>
        </p:nvSpPr>
        <p:spPr>
          <a:xfrm>
            <a:off x="8491220" y="3338253"/>
            <a:ext cx="3429000" cy="1325880"/>
          </a:xfrm>
          <a:prstGeom prst="roundRect">
            <a:avLst/>
          </a:prstGeom>
          <a:solidFill>
            <a:srgbClr val="EEF8F1"/>
          </a:solidFill>
          <a:ln w="17780">
            <a:solidFill>
              <a:srgbClr val="2E9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r>
              <a:rPr lang="en-US" sz="1700" b="1" dirty="0">
                <a:solidFill>
                  <a:srgbClr val="2E9B58"/>
                </a:solidFill>
                <a:latin typeface="Arial"/>
              </a:rPr>
              <a:t>        </a:t>
            </a:r>
            <a:r>
              <a:rPr sz="1700" b="1" dirty="0">
                <a:solidFill>
                  <a:srgbClr val="2E9B58"/>
                </a:solidFill>
                <a:latin typeface="Arial"/>
              </a:rPr>
              <a:t>WHY IT MATTERS</a:t>
            </a:r>
            <a:r>
              <a:rPr lang="en-IN" sz="1600" dirty="0"/>
              <a:t>Capture </a:t>
            </a:r>
            <a:r>
              <a:rPr lang="en-IN" sz="1600" dirty="0">
                <a:solidFill>
                  <a:schemeClr val="tx1"/>
                </a:solidFill>
              </a:rPr>
              <a:t>energy that would otherwise be lost as vehicles put pressure on and slightly deform the road surface</a:t>
            </a:r>
            <a:r>
              <a:rPr lang="en-IN" sz="1600" dirty="0"/>
              <a:t>.</a:t>
            </a:r>
            <a:endParaRPr sz="1700" b="1" dirty="0">
              <a:solidFill>
                <a:srgbClr val="2E9B58"/>
              </a:solidFill>
              <a:latin typeface="Arial"/>
            </a:endParaRPr>
          </a:p>
        </p:txBody>
      </p:sp>
      <p:sp>
        <p:nvSpPr>
          <p:cNvPr id="15367" name="Rounded Rectangle 15366"/>
          <p:cNvSpPr/>
          <p:nvPr/>
        </p:nvSpPr>
        <p:spPr>
          <a:xfrm>
            <a:off x="6250200" y="4892360"/>
            <a:ext cx="3429000" cy="1325880"/>
          </a:xfrm>
          <a:prstGeom prst="roundRect">
            <a:avLst/>
          </a:prstGeom>
          <a:solidFill>
            <a:srgbClr val="FDF6EB"/>
          </a:solidFill>
          <a:ln w="17780">
            <a:solidFill>
              <a:srgbClr val="E88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/>
            <a:r>
              <a:rPr sz="1700" b="1" dirty="0">
                <a:solidFill>
                  <a:srgbClr val="E88B1A"/>
                </a:solidFill>
                <a:latin typeface="Arial"/>
              </a:rPr>
              <a:t>WHERE TO START</a:t>
            </a:r>
          </a:p>
          <a:p>
            <a:pPr>
              <a:spcBef>
                <a:spcPts val="500"/>
              </a:spcBef>
            </a:pPr>
            <a:r>
              <a:rPr sz="1350" dirty="0">
                <a:solidFill>
                  <a:srgbClr val="23303C"/>
                </a:solidFill>
                <a:latin typeface="Arial"/>
              </a:rPr>
              <a:t>High-traffic zones, speed-calming sections and other locations with repeated vehicle loading.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996DF-CF12-F029-3F1B-ECAB9BDCAE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751"/>
          <a:stretch>
            <a:fillRect/>
          </a:stretch>
        </p:blipFill>
        <p:spPr>
          <a:xfrm>
            <a:off x="816248" y="1143000"/>
            <a:ext cx="4430115" cy="5140851"/>
          </a:xfrm>
          <a:prstGeom prst="rect">
            <a:avLst/>
          </a:prstGeom>
        </p:spPr>
      </p:pic>
      <p:sp>
        <p:nvSpPr>
          <p:cNvPr id="8" name="Right Arrow 17420">
            <a:extLst>
              <a:ext uri="{FF2B5EF4-FFF2-40B4-BE49-F238E27FC236}">
                <a16:creationId xmlns:a16="http://schemas.microsoft.com/office/drawing/2014/main" id="{F9320DD3-FAAD-8528-6819-E6B7650FD1F3}"/>
              </a:ext>
            </a:extLst>
          </p:cNvPr>
          <p:cNvSpPr/>
          <p:nvPr/>
        </p:nvSpPr>
        <p:spPr>
          <a:xfrm rot="2831879">
            <a:off x="7997385" y="3368559"/>
            <a:ext cx="347472" cy="256032"/>
          </a:xfrm>
          <a:prstGeom prst="rightArrow">
            <a:avLst/>
          </a:prstGeom>
          <a:solidFill>
            <a:srgbClr val="646F79"/>
          </a:solidFill>
          <a:ln>
            <a:solidFill>
              <a:srgbClr val="64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ight Arrow 17420">
            <a:extLst>
              <a:ext uri="{FF2B5EF4-FFF2-40B4-BE49-F238E27FC236}">
                <a16:creationId xmlns:a16="http://schemas.microsoft.com/office/drawing/2014/main" id="{95437071-ACBC-B655-A669-7109EC73357E}"/>
              </a:ext>
            </a:extLst>
          </p:cNvPr>
          <p:cNvSpPr/>
          <p:nvPr/>
        </p:nvSpPr>
        <p:spPr>
          <a:xfrm rot="7919786">
            <a:off x="7889849" y="4428645"/>
            <a:ext cx="347472" cy="256032"/>
          </a:xfrm>
          <a:prstGeom prst="rightArrow">
            <a:avLst/>
          </a:prstGeom>
          <a:solidFill>
            <a:srgbClr val="646F79"/>
          </a:solidFill>
          <a:ln>
            <a:solidFill>
              <a:srgbClr val="64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r>
              <a:rPr sz="2600" b="1" dirty="0">
                <a:solidFill>
                  <a:srgbClr val="23303C"/>
                </a:solidFill>
                <a:latin typeface="Arial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4F82"/>
                </a:solidFill>
                <a:latin typeface="Arial"/>
              </a:rPr>
              <a:t>Innovexa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868684" y="1190689"/>
            <a:ext cx="53035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50000"/>
                  </a:schemeClr>
                </a:solidFill>
              </a:rPr>
              <a:t>HOW THE ENERGY IS HARVESTED</a:t>
            </a:r>
            <a:endParaRPr sz="2000" b="1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17412" name="TextBox 17411"/>
          <p:cNvSpPr txBox="1"/>
          <p:nvPr/>
        </p:nvSpPr>
        <p:spPr>
          <a:xfrm>
            <a:off x="329773" y="1627632"/>
            <a:ext cx="53949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/>
              <a:t>Vehicle Load → Pressure Plate → Rack &amp; Pinion → Gear Transmission → Generator → Power Conditioning → Energy Storage</a:t>
            </a:r>
            <a:endParaRPr sz="1700" b="0" dirty="0">
              <a:solidFill>
                <a:srgbClr val="23303C"/>
              </a:solidFill>
              <a:latin typeface="Arial"/>
            </a:endParaRPr>
          </a:p>
        </p:txBody>
      </p:sp>
      <p:sp>
        <p:nvSpPr>
          <p:cNvPr id="17413" name="TextBox 17412"/>
          <p:cNvSpPr txBox="1"/>
          <p:nvPr/>
        </p:nvSpPr>
        <p:spPr>
          <a:xfrm>
            <a:off x="955701" y="256099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2E9B58"/>
                </a:solidFill>
                <a:latin typeface="Arial"/>
              </a:rPr>
              <a:t>TECHNOLOGIES / HARDWARE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29773" y="2885135"/>
            <a:ext cx="5303520" cy="35548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/>
            <a:r>
              <a:rPr lang="en-IN" sz="1500" b="1" dirty="0"/>
              <a:t>Pressure plate + mechanical frame</a:t>
            </a:r>
            <a:r>
              <a:rPr lang="en-IN" sz="1500" dirty="0"/>
              <a:t> — captures vehicle load and provides controlled movement </a:t>
            </a:r>
          </a:p>
          <a:p>
            <a:pPr lvl="0"/>
            <a:r>
              <a:rPr lang="en-IN" sz="1500" b="1" dirty="0"/>
              <a:t>Springs / return mechanism</a:t>
            </a:r>
            <a:r>
              <a:rPr lang="en-IN" sz="1500" dirty="0"/>
              <a:t> — returns the plate to its original position after each vehicle pass </a:t>
            </a:r>
          </a:p>
          <a:p>
            <a:pPr lvl="0"/>
            <a:r>
              <a:rPr lang="en-IN" sz="1500" b="1" dirty="0"/>
              <a:t>Rack-and-pinion + gear transmission</a:t>
            </a:r>
            <a:r>
              <a:rPr lang="en-IN" sz="1500" dirty="0"/>
              <a:t> — converts downward movement into generator rotation </a:t>
            </a:r>
          </a:p>
          <a:p>
            <a:pPr lvl="0"/>
            <a:r>
              <a:rPr lang="en-IN" sz="1500" b="1" dirty="0"/>
              <a:t>Generator</a:t>
            </a:r>
            <a:r>
              <a:rPr lang="en-IN" sz="1500" dirty="0"/>
              <a:t> — converts mechanical rotation into electrical energy </a:t>
            </a:r>
          </a:p>
          <a:p>
            <a:pPr lvl="0"/>
            <a:r>
              <a:rPr lang="en-IN" sz="1500" b="1" dirty="0"/>
              <a:t>Rectifier + voltage regulator</a:t>
            </a:r>
            <a:r>
              <a:rPr lang="en-IN" sz="1500" dirty="0"/>
              <a:t> — converts and stabilizes the generated electrical output </a:t>
            </a:r>
          </a:p>
          <a:p>
            <a:pPr lvl="0"/>
            <a:r>
              <a:rPr lang="en-IN" sz="1500" b="1" dirty="0"/>
              <a:t>Battery / supercapacitor</a:t>
            </a:r>
            <a:r>
              <a:rPr lang="en-IN" sz="1500" dirty="0"/>
              <a:t> — stores the harvested energy </a:t>
            </a:r>
          </a:p>
          <a:p>
            <a:pPr lvl="0"/>
            <a:r>
              <a:rPr lang="en-IN" sz="1500" b="1" dirty="0"/>
              <a:t>Microcontroller + sensors</a:t>
            </a:r>
            <a:r>
              <a:rPr lang="en-IN" sz="1500" dirty="0"/>
              <a:t> — monitor vehicle load, energy generation and road conditions </a:t>
            </a:r>
          </a:p>
          <a:p>
            <a:pPr lvl="0"/>
            <a:r>
              <a:rPr lang="en-IN" sz="1500" b="1" dirty="0"/>
              <a:t>Protective enclosure + wiring</a:t>
            </a:r>
            <a:r>
              <a:rPr lang="en-IN" sz="1500" dirty="0"/>
              <a:t> — protects the system from dust, water and repeated road loading</a:t>
            </a:r>
          </a:p>
          <a:p>
            <a:pPr algn="l"/>
            <a:endParaRPr sz="1500" b="0" dirty="0">
              <a:solidFill>
                <a:srgbClr val="23303C"/>
              </a:solidFill>
              <a:latin typeface="Arial"/>
            </a:endParaRPr>
          </a:p>
        </p:txBody>
      </p:sp>
      <p:pic>
        <p:nvPicPr>
          <p:cNvPr id="17415" name="Picture 1741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3293" y="1107117"/>
            <a:ext cx="6451922" cy="50494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r>
              <a:rPr sz="2500" b="1">
                <a:solidFill>
                  <a:srgbClr val="23303C"/>
                </a:solidFill>
                <a:latin typeface="Arial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4F82"/>
                </a:solidFill>
                <a:latin typeface="Arial"/>
              </a:rPr>
              <a:t>Innovexa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7E7FB0-24EE-C7FD-0777-529B4B927B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152" b="13627"/>
          <a:stretch>
            <a:fillRect/>
          </a:stretch>
        </p:blipFill>
        <p:spPr>
          <a:xfrm>
            <a:off x="7765370" y="1167461"/>
            <a:ext cx="4307250" cy="3596062"/>
          </a:xfrm>
          <a:prstGeom prst="rect">
            <a:avLst/>
          </a:prstGeom>
        </p:spPr>
      </p:pic>
      <p:sp>
        <p:nvSpPr>
          <p:cNvPr id="8" name="Rounded Rectangle 15368">
            <a:extLst>
              <a:ext uri="{FF2B5EF4-FFF2-40B4-BE49-F238E27FC236}">
                <a16:creationId xmlns:a16="http://schemas.microsoft.com/office/drawing/2014/main" id="{356C0A4E-B548-34E9-8601-621A231C362F}"/>
              </a:ext>
            </a:extLst>
          </p:cNvPr>
          <p:cNvSpPr/>
          <p:nvPr/>
        </p:nvSpPr>
        <p:spPr>
          <a:xfrm>
            <a:off x="640080" y="5284430"/>
            <a:ext cx="1901952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B76B7"/>
                </a:solidFill>
                <a:latin typeface="Arial"/>
              </a:rPr>
              <a:t>VEHICLE LOAD</a:t>
            </a:r>
          </a:p>
        </p:txBody>
      </p:sp>
      <p:sp>
        <p:nvSpPr>
          <p:cNvPr id="11" name="Right Arrow 15369">
            <a:extLst>
              <a:ext uri="{FF2B5EF4-FFF2-40B4-BE49-F238E27FC236}">
                <a16:creationId xmlns:a16="http://schemas.microsoft.com/office/drawing/2014/main" id="{1A2E98FC-D90C-2102-10B0-8182C2978759}"/>
              </a:ext>
            </a:extLst>
          </p:cNvPr>
          <p:cNvSpPr/>
          <p:nvPr/>
        </p:nvSpPr>
        <p:spPr>
          <a:xfrm>
            <a:off x="2551176" y="5413854"/>
            <a:ext cx="347472" cy="256032"/>
          </a:xfrm>
          <a:prstGeom prst="rightArrow">
            <a:avLst/>
          </a:prstGeom>
          <a:solidFill>
            <a:srgbClr val="646F79"/>
          </a:solidFill>
          <a:ln>
            <a:solidFill>
              <a:srgbClr val="64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5370">
            <a:extLst>
              <a:ext uri="{FF2B5EF4-FFF2-40B4-BE49-F238E27FC236}">
                <a16:creationId xmlns:a16="http://schemas.microsoft.com/office/drawing/2014/main" id="{C8128904-1F2B-A88F-3631-72796A17B044}"/>
              </a:ext>
            </a:extLst>
          </p:cNvPr>
          <p:cNvSpPr/>
          <p:nvPr/>
        </p:nvSpPr>
        <p:spPr>
          <a:xfrm>
            <a:off x="2898648" y="5284430"/>
            <a:ext cx="1901952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8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>
                <a:solidFill>
                  <a:srgbClr val="E88B1A"/>
                </a:solidFill>
                <a:latin typeface="Arial"/>
              </a:rPr>
              <a:t>PRESSURE / VIBRATION</a:t>
            </a:r>
          </a:p>
        </p:txBody>
      </p:sp>
      <p:sp>
        <p:nvSpPr>
          <p:cNvPr id="16" name="Right Arrow 15371">
            <a:extLst>
              <a:ext uri="{FF2B5EF4-FFF2-40B4-BE49-F238E27FC236}">
                <a16:creationId xmlns:a16="http://schemas.microsoft.com/office/drawing/2014/main" id="{6CEBF24D-BECF-B796-5947-03ADDCE8EDD7}"/>
              </a:ext>
            </a:extLst>
          </p:cNvPr>
          <p:cNvSpPr/>
          <p:nvPr/>
        </p:nvSpPr>
        <p:spPr>
          <a:xfrm>
            <a:off x="4782312" y="5458224"/>
            <a:ext cx="347472" cy="256032"/>
          </a:xfrm>
          <a:prstGeom prst="rightArrow">
            <a:avLst/>
          </a:prstGeom>
          <a:solidFill>
            <a:srgbClr val="646F79"/>
          </a:solidFill>
          <a:ln>
            <a:solidFill>
              <a:srgbClr val="64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5372">
            <a:extLst>
              <a:ext uri="{FF2B5EF4-FFF2-40B4-BE49-F238E27FC236}">
                <a16:creationId xmlns:a16="http://schemas.microsoft.com/office/drawing/2014/main" id="{F488B827-A130-35AF-DEA5-B6E05DFCC71B}"/>
              </a:ext>
            </a:extLst>
          </p:cNvPr>
          <p:cNvSpPr/>
          <p:nvPr/>
        </p:nvSpPr>
        <p:spPr>
          <a:xfrm>
            <a:off x="5148072" y="5311722"/>
            <a:ext cx="1901952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9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E9B58"/>
                </a:solidFill>
                <a:latin typeface="Arial"/>
              </a:rPr>
              <a:t>ENERGY HARVESTER</a:t>
            </a:r>
          </a:p>
        </p:txBody>
      </p:sp>
      <p:sp>
        <p:nvSpPr>
          <p:cNvPr id="20" name="Right Arrow 15373">
            <a:extLst>
              <a:ext uri="{FF2B5EF4-FFF2-40B4-BE49-F238E27FC236}">
                <a16:creationId xmlns:a16="http://schemas.microsoft.com/office/drawing/2014/main" id="{A1C14348-08C6-0B60-3303-675139A7B11E}"/>
              </a:ext>
            </a:extLst>
          </p:cNvPr>
          <p:cNvSpPr/>
          <p:nvPr/>
        </p:nvSpPr>
        <p:spPr>
          <a:xfrm>
            <a:off x="7068312" y="5446926"/>
            <a:ext cx="347472" cy="256032"/>
          </a:xfrm>
          <a:prstGeom prst="rightArrow">
            <a:avLst/>
          </a:prstGeom>
          <a:solidFill>
            <a:srgbClr val="646F79"/>
          </a:solidFill>
          <a:ln>
            <a:solidFill>
              <a:srgbClr val="64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15374">
            <a:extLst>
              <a:ext uri="{FF2B5EF4-FFF2-40B4-BE49-F238E27FC236}">
                <a16:creationId xmlns:a16="http://schemas.microsoft.com/office/drawing/2014/main" id="{1C37015C-6613-D3E5-258A-2511FDD3E302}"/>
              </a:ext>
            </a:extLst>
          </p:cNvPr>
          <p:cNvSpPr/>
          <p:nvPr/>
        </p:nvSpPr>
        <p:spPr>
          <a:xfrm>
            <a:off x="7415784" y="5275678"/>
            <a:ext cx="1901952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>
                <a:solidFill>
                  <a:srgbClr val="0B76B7"/>
                </a:solidFill>
                <a:latin typeface="Arial"/>
              </a:rPr>
              <a:t>POWER + STORAGE</a:t>
            </a:r>
          </a:p>
        </p:txBody>
      </p:sp>
      <p:sp>
        <p:nvSpPr>
          <p:cNvPr id="24" name="Right Arrow 15375">
            <a:extLst>
              <a:ext uri="{FF2B5EF4-FFF2-40B4-BE49-F238E27FC236}">
                <a16:creationId xmlns:a16="http://schemas.microsoft.com/office/drawing/2014/main" id="{60580D86-231E-2CC8-30DC-9C4B99889D20}"/>
              </a:ext>
            </a:extLst>
          </p:cNvPr>
          <p:cNvSpPr/>
          <p:nvPr/>
        </p:nvSpPr>
        <p:spPr>
          <a:xfrm>
            <a:off x="9317736" y="5406274"/>
            <a:ext cx="347472" cy="256032"/>
          </a:xfrm>
          <a:prstGeom prst="rightArrow">
            <a:avLst/>
          </a:prstGeom>
          <a:solidFill>
            <a:srgbClr val="646F79"/>
          </a:solidFill>
          <a:ln>
            <a:solidFill>
              <a:srgbClr val="64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15376">
            <a:extLst>
              <a:ext uri="{FF2B5EF4-FFF2-40B4-BE49-F238E27FC236}">
                <a16:creationId xmlns:a16="http://schemas.microsoft.com/office/drawing/2014/main" id="{18ABC940-3624-EB62-BD8C-DD884210610C}"/>
              </a:ext>
            </a:extLst>
          </p:cNvPr>
          <p:cNvSpPr/>
          <p:nvPr/>
        </p:nvSpPr>
        <p:spPr>
          <a:xfrm>
            <a:off x="9680448" y="5222150"/>
            <a:ext cx="1901952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9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>
                <a:solidFill>
                  <a:srgbClr val="2E9B58"/>
                </a:solidFill>
                <a:latin typeface="Arial"/>
              </a:rPr>
              <a:t>SMART ROAD LOAD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AFE7762-5D29-94F6-3EE4-F44986A2C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77" y="1095375"/>
            <a:ext cx="3431645" cy="37402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146C618-D837-7507-7CFF-E363FE6CCE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7865" y="1107063"/>
            <a:ext cx="3709796" cy="38779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r>
              <a:rPr sz="2600" b="1">
                <a:solidFill>
                  <a:srgbClr val="23303C"/>
                </a:solidFill>
                <a:latin typeface="Arial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</a:t>
            </a: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4F82"/>
                </a:solidFill>
                <a:latin typeface="Arial"/>
              </a:rPr>
              <a:t>Innovexa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708660" y="763526"/>
            <a:ext cx="106527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POWERING THE SMART ROAD OF TOMORROW</a:t>
            </a:r>
            <a:endParaRPr sz="2400" b="1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17412" name="Rounded Rectangle 17411"/>
          <p:cNvSpPr/>
          <p:nvPr/>
        </p:nvSpPr>
        <p:spPr>
          <a:xfrm>
            <a:off x="658368" y="1874519"/>
            <a:ext cx="3429000" cy="1417320"/>
          </a:xfrm>
          <a:prstGeom prst="roundRect">
            <a:avLst/>
          </a:prstGeom>
          <a:solidFill>
            <a:srgbClr val="EEF8F1"/>
          </a:solidFill>
          <a:ln w="17780">
            <a:solidFill>
              <a:srgbClr val="2E9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/>
            <a:r>
              <a:rPr sz="1700" b="1" dirty="0">
                <a:solidFill>
                  <a:srgbClr val="2E9B58"/>
                </a:solidFill>
                <a:latin typeface="Arial"/>
              </a:rPr>
              <a:t>ENVIRONMENTAL</a:t>
            </a:r>
          </a:p>
          <a:p>
            <a:pPr>
              <a:spcBef>
                <a:spcPts val="500"/>
              </a:spcBef>
            </a:pPr>
            <a:r>
              <a:rPr sz="1350" dirty="0">
                <a:solidFill>
                  <a:srgbClr val="23303C"/>
                </a:solidFill>
                <a:latin typeface="Arial"/>
              </a:rPr>
              <a:t>Recover</a:t>
            </a:r>
            <a:r>
              <a:rPr lang="en-US" sz="1350" dirty="0">
                <a:solidFill>
                  <a:srgbClr val="23303C"/>
                </a:solidFill>
                <a:latin typeface="Arial"/>
              </a:rPr>
              <a:t> the discarded mechanical energy into useful energy</a:t>
            </a:r>
            <a:endParaRPr sz="1350" dirty="0">
              <a:solidFill>
                <a:srgbClr val="23303C"/>
              </a:solidFill>
              <a:latin typeface="Arial"/>
            </a:endParaRPr>
          </a:p>
        </p:txBody>
      </p:sp>
      <p:sp>
        <p:nvSpPr>
          <p:cNvPr id="17413" name="Rounded Rectangle 17412"/>
          <p:cNvSpPr/>
          <p:nvPr/>
        </p:nvSpPr>
        <p:spPr>
          <a:xfrm>
            <a:off x="4423200" y="1884325"/>
            <a:ext cx="3429000" cy="1417320"/>
          </a:xfrm>
          <a:prstGeom prst="roundRect">
            <a:avLst/>
          </a:prstGeom>
          <a:solidFill>
            <a:srgbClr val="EBF6FC"/>
          </a:solidFill>
          <a:ln w="17780">
            <a:solidFill>
              <a:srgbClr val="0B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/>
            <a:r>
              <a:rPr lang="en-IN" sz="2000" b="1" dirty="0">
                <a:solidFill>
                  <a:schemeClr val="tx2"/>
                </a:solidFill>
              </a:rPr>
              <a:t>SOCIAL</a:t>
            </a:r>
            <a:endParaRPr lang="en-IN" sz="2000" dirty="0">
              <a:solidFill>
                <a:schemeClr val="tx2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</a:rPr>
              <a:t>Enable safer, smarter roads. Provide power for road-safety indicators, traffic sensors and real-time monitoring</a:t>
            </a:r>
            <a:r>
              <a:rPr lang="en-IN" sz="1400" dirty="0"/>
              <a:t>.</a:t>
            </a:r>
          </a:p>
          <a:p>
            <a:pPr algn="ctr"/>
            <a:endParaRPr sz="1350" dirty="0">
              <a:solidFill>
                <a:srgbClr val="23303C"/>
              </a:solidFill>
              <a:latin typeface="Arial"/>
            </a:endParaRPr>
          </a:p>
        </p:txBody>
      </p:sp>
      <p:sp>
        <p:nvSpPr>
          <p:cNvPr id="17414" name="Rounded Rectangle 17413"/>
          <p:cNvSpPr/>
          <p:nvPr/>
        </p:nvSpPr>
        <p:spPr>
          <a:xfrm>
            <a:off x="8083296" y="1874519"/>
            <a:ext cx="3429000" cy="1417320"/>
          </a:xfrm>
          <a:prstGeom prst="roundRect">
            <a:avLst/>
          </a:prstGeom>
          <a:solidFill>
            <a:srgbClr val="FDF6EB"/>
          </a:solidFill>
          <a:ln w="17780">
            <a:solidFill>
              <a:srgbClr val="E88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/>
            <a:r>
              <a:rPr sz="1700" b="1">
                <a:solidFill>
                  <a:srgbClr val="E88B1A"/>
                </a:solidFill>
                <a:latin typeface="Arial"/>
              </a:rPr>
              <a:t>ECONOMIC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23303C"/>
                </a:solidFill>
                <a:latin typeface="Arial"/>
              </a:rPr>
              <a:t>Potentially reduce wiring / power needs for selected low-power loads.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818887" y="359359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0B76B7"/>
                </a:solidFill>
                <a:latin typeface="Arial"/>
              </a:rPr>
              <a:t>SMART INFRASTRUCTURE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14400" y="4041648"/>
            <a:ext cx="10241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3303C"/>
                </a:solidFill>
                <a:latin typeface="Arial"/>
              </a:rPr>
              <a:t>Combine energy generation with road-condition / traffic monitoring. Start at high-traffic locations, validate performance, then expand.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1097280" y="5166360"/>
            <a:ext cx="214884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 pressure</a:t>
            </a:r>
            <a:endParaRPr sz="1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8" name="Right Arrow 17417"/>
          <p:cNvSpPr/>
          <p:nvPr/>
        </p:nvSpPr>
        <p:spPr>
          <a:xfrm>
            <a:off x="3383280" y="5321808"/>
            <a:ext cx="347472" cy="256032"/>
          </a:xfrm>
          <a:prstGeom prst="rightArrow">
            <a:avLst/>
          </a:prstGeom>
          <a:solidFill>
            <a:srgbClr val="646F79"/>
          </a:solidFill>
          <a:ln>
            <a:solidFill>
              <a:srgbClr val="64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3749039" y="5166360"/>
            <a:ext cx="214884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9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energy</a:t>
            </a:r>
            <a:endParaRPr sz="14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0" name="Right Arrow 17419"/>
          <p:cNvSpPr/>
          <p:nvPr/>
        </p:nvSpPr>
        <p:spPr>
          <a:xfrm>
            <a:off x="6035040" y="5321808"/>
            <a:ext cx="347472" cy="256032"/>
          </a:xfrm>
          <a:prstGeom prst="rightArrow">
            <a:avLst/>
          </a:prstGeom>
          <a:solidFill>
            <a:srgbClr val="646F79"/>
          </a:solidFill>
          <a:ln>
            <a:solidFill>
              <a:srgbClr val="64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ounded Rectangle 17420"/>
          <p:cNvSpPr/>
          <p:nvPr/>
        </p:nvSpPr>
        <p:spPr>
          <a:xfrm>
            <a:off x="6400800" y="5166360"/>
            <a:ext cx="214884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8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>
                <a:solidFill>
                  <a:srgbClr val="E88B1A"/>
                </a:solidFill>
                <a:latin typeface="Arial"/>
              </a:rPr>
              <a:t>LOW-POWER LOADS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8686800" y="5321808"/>
            <a:ext cx="347472" cy="256032"/>
          </a:xfrm>
          <a:prstGeom prst="rightArrow">
            <a:avLst/>
          </a:prstGeom>
          <a:solidFill>
            <a:srgbClr val="646F79"/>
          </a:solidFill>
          <a:ln>
            <a:solidFill>
              <a:srgbClr val="64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9052560" y="5166360"/>
            <a:ext cx="1965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>
                <a:solidFill>
                  <a:srgbClr val="0B76B7"/>
                </a:solidFill>
                <a:latin typeface="Arial"/>
              </a:rPr>
              <a:t>SMART ROAD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r>
              <a:rPr sz="2500" b="1" dirty="0">
                <a:solidFill>
                  <a:srgbClr val="23303C"/>
                </a:solidFill>
                <a:latin typeface="Arial"/>
              </a:rPr>
              <a:t>RESEARCH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4F82"/>
                </a:solidFill>
                <a:latin typeface="Arial"/>
              </a:rPr>
              <a:t>Innovexa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850392" y="1045425"/>
            <a:ext cx="106527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EVIDENCE TO VALIDATE THE PROTOTYPE AND DEPLOYMENT CASE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75488" y="1702689"/>
            <a:ext cx="5623560" cy="1040511"/>
          </a:xfrm>
          <a:prstGeom prst="roundRect">
            <a:avLst/>
          </a:prstGeom>
          <a:solidFill>
            <a:srgbClr val="EBF6FC"/>
          </a:solidFill>
          <a:ln w="17780">
            <a:solidFill>
              <a:srgbClr val="0B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r>
              <a:rPr lang="en-IN" sz="16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JAPAN FOOTSTEP HARVESTING</a:t>
            </a:r>
            <a:r>
              <a:rPr lang="en-IN" sz="1600" dirty="0">
                <a:solidFill>
                  <a:schemeClr val="tx2"/>
                </a:solidFill>
              </a:rPr>
              <a:t> </a:t>
            </a:r>
          </a:p>
          <a:p>
            <a:pPr algn="ctr"/>
            <a:r>
              <a:rPr lang="en-IN" sz="1400" dirty="0">
                <a:solidFill>
                  <a:schemeClr val="tx2"/>
                </a:solidFill>
              </a:rPr>
              <a:t>Piezoelectric floor systems convert pressure from footsteps into electrical energy for low-power applications. </a:t>
            </a:r>
            <a:r>
              <a:rPr lang="en-US" sz="1350" dirty="0">
                <a:solidFill>
                  <a:srgbClr val="23303C"/>
                </a:solidFill>
                <a:latin typeface="Arial"/>
              </a:rPr>
              <a:t>	</a:t>
            </a:r>
            <a:endParaRPr sz="1350" dirty="0">
              <a:solidFill>
                <a:srgbClr val="23303C"/>
              </a:solidFill>
              <a:latin typeface="Arial"/>
            </a:endParaRPr>
          </a:p>
        </p:txBody>
      </p:sp>
      <p:sp>
        <p:nvSpPr>
          <p:cNvPr id="17413" name="Rounded Rectangle 17412"/>
          <p:cNvSpPr/>
          <p:nvPr/>
        </p:nvSpPr>
        <p:spPr>
          <a:xfrm>
            <a:off x="6263640" y="1741932"/>
            <a:ext cx="5623560" cy="960120"/>
          </a:xfrm>
          <a:prstGeom prst="roundRect">
            <a:avLst/>
          </a:prstGeom>
          <a:solidFill>
            <a:srgbClr val="EEF8F1"/>
          </a:solidFill>
          <a:ln w="17780">
            <a:solidFill>
              <a:srgbClr val="2E9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r>
              <a:rPr lang="en-IN" sz="16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— VEHICLE / SPEED-BUMP ENERGYHARVESTING</a:t>
            </a:r>
          </a:p>
          <a:p>
            <a:pPr algn="ctr"/>
            <a:r>
              <a:rPr sz="1350" dirty="0">
                <a:solidFill>
                  <a:srgbClr val="23303C"/>
                </a:solidFill>
                <a:latin typeface="Arial"/>
              </a:rPr>
              <a:t>Studies on piezoelectric transducers in pavements and speed-calming structures.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66928" y="3262906"/>
            <a:ext cx="5440680" cy="960120"/>
          </a:xfrm>
          <a:prstGeom prst="roundRect">
            <a:avLst/>
          </a:prstGeom>
          <a:solidFill>
            <a:srgbClr val="FDF6EB"/>
          </a:solidFill>
          <a:ln w="17780">
            <a:solidFill>
              <a:srgbClr val="E88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/>
            <a:r>
              <a:rPr lang="en-US" sz="1350" dirty="0">
                <a:solidFill>
                  <a:srgbClr val="23303C"/>
                </a:solidFill>
                <a:latin typeface="Arial"/>
              </a:rPr>
              <a:t>Research paper link:</a:t>
            </a:r>
          </a:p>
          <a:p>
            <a:pPr algn="ctr"/>
            <a:r>
              <a:rPr lang="en-IN" sz="1350" dirty="0">
                <a:solidFill>
                  <a:srgbClr val="23303C"/>
                </a:solidFill>
                <a:latin typeface="Arial"/>
                <a:hlinkClick r:id="rId4"/>
              </a:rPr>
              <a:t>https://doi.org/10.1016/j.apenergy.2016.04.031?utm_source=chatgpt.com</a:t>
            </a:r>
            <a:endParaRPr sz="1350" dirty="0">
              <a:solidFill>
                <a:srgbClr val="23303C"/>
              </a:solidFill>
              <a:latin typeface="Arial"/>
            </a:endParaRPr>
          </a:p>
        </p:txBody>
      </p:sp>
      <p:sp>
        <p:nvSpPr>
          <p:cNvPr id="17415" name="Rounded Rectangle 17414"/>
          <p:cNvSpPr/>
          <p:nvPr/>
        </p:nvSpPr>
        <p:spPr>
          <a:xfrm>
            <a:off x="6446520" y="3235793"/>
            <a:ext cx="5257800" cy="960120"/>
          </a:xfrm>
          <a:prstGeom prst="roundRect">
            <a:avLst/>
          </a:prstGeom>
          <a:solidFill>
            <a:srgbClr val="EBF6FC"/>
          </a:solidFill>
          <a:ln w="17780">
            <a:solidFill>
              <a:srgbClr val="0B7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/>
            <a:r>
              <a:rPr lang="en-US" sz="1350" dirty="0">
                <a:solidFill>
                  <a:srgbClr val="23303C"/>
                </a:solidFill>
                <a:latin typeface="Arial"/>
              </a:rPr>
              <a:t>Research paper link:</a:t>
            </a:r>
          </a:p>
          <a:p>
            <a:pPr algn="ctr"/>
            <a:r>
              <a:rPr lang="en-IN" sz="1350" dirty="0">
                <a:solidFill>
                  <a:srgbClr val="23303C"/>
                </a:solidFill>
                <a:latin typeface="Arial"/>
                <a:hlinkClick r:id="rId5"/>
              </a:rPr>
              <a:t>https://doi.org/10.1016/j.jtte.2024.11.002?utm_source=chatgpt.com</a:t>
            </a:r>
            <a:endParaRPr sz="1350" dirty="0">
              <a:solidFill>
                <a:srgbClr val="23303C"/>
              </a:solidFill>
              <a:latin typeface="Arial"/>
            </a:endParaRPr>
          </a:p>
        </p:txBody>
      </p:sp>
      <p:sp>
        <p:nvSpPr>
          <p:cNvPr id="17416" name="Rounded Rectangle 17415"/>
          <p:cNvSpPr/>
          <p:nvPr/>
        </p:nvSpPr>
        <p:spPr>
          <a:xfrm>
            <a:off x="566928" y="4690872"/>
            <a:ext cx="5440680" cy="960120"/>
          </a:xfrm>
          <a:prstGeom prst="roundRect">
            <a:avLst/>
          </a:prstGeom>
          <a:solidFill>
            <a:srgbClr val="EEF8F1"/>
          </a:solidFill>
          <a:ln w="17780">
            <a:solidFill>
              <a:srgbClr val="2E9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/>
            <a:r>
              <a:rPr sz="1700" b="1" dirty="0">
                <a:solidFill>
                  <a:srgbClr val="2E9B58"/>
                </a:solidFill>
                <a:latin typeface="Arial"/>
              </a:rPr>
              <a:t>05  SIH alignment</a:t>
            </a:r>
          </a:p>
          <a:p>
            <a:pPr>
              <a:spcBef>
                <a:spcPts val="500"/>
              </a:spcBef>
            </a:pPr>
            <a:r>
              <a:rPr sz="1350" dirty="0">
                <a:solidFill>
                  <a:srgbClr val="23303C"/>
                </a:solidFill>
                <a:latin typeface="Arial"/>
              </a:rPr>
              <a:t>SIH themes and guidelines for Clean &amp; Green Technologies and Renewable / Sustainable Energy.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600444" y="4690872"/>
            <a:ext cx="5257800" cy="960120"/>
          </a:xfrm>
          <a:prstGeom prst="roundRect">
            <a:avLst/>
          </a:prstGeom>
          <a:solidFill>
            <a:srgbClr val="FDF6EB"/>
          </a:solidFill>
          <a:ln w="17780">
            <a:solidFill>
              <a:srgbClr val="E88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73152" rtlCol="0" anchor="ctr"/>
          <a:lstStyle/>
          <a:p>
            <a:pPr algn="ctr"/>
            <a:r>
              <a:rPr sz="1700" b="1" dirty="0">
                <a:solidFill>
                  <a:srgbClr val="E88B1A"/>
                </a:solidFill>
                <a:latin typeface="Arial"/>
              </a:rPr>
              <a:t>06  Prototype evidence</a:t>
            </a:r>
          </a:p>
          <a:p>
            <a:pPr>
              <a:spcBef>
                <a:spcPts val="500"/>
              </a:spcBef>
            </a:pPr>
            <a:r>
              <a:rPr sz="1350" dirty="0">
                <a:solidFill>
                  <a:srgbClr val="23303C"/>
                </a:solidFill>
                <a:latin typeface="Arial"/>
              </a:rPr>
              <a:t>Measured voltage, current, energy/event, durability and module performance from our own testing.</a:t>
            </a:r>
          </a:p>
        </p:txBody>
      </p:sp>
      <p:sp>
        <p:nvSpPr>
          <p:cNvPr id="4" name="Right Arrow 15369">
            <a:extLst>
              <a:ext uri="{FF2B5EF4-FFF2-40B4-BE49-F238E27FC236}">
                <a16:creationId xmlns:a16="http://schemas.microsoft.com/office/drawing/2014/main" id="{F7F06906-69F0-02F8-3C9D-91F416E5DBE7}"/>
              </a:ext>
            </a:extLst>
          </p:cNvPr>
          <p:cNvSpPr/>
          <p:nvPr/>
        </p:nvSpPr>
        <p:spPr>
          <a:xfrm rot="5400000">
            <a:off x="3156204" y="2875037"/>
            <a:ext cx="347472" cy="256032"/>
          </a:xfrm>
          <a:prstGeom prst="rightArrow">
            <a:avLst/>
          </a:prstGeom>
          <a:solidFill>
            <a:srgbClr val="646F79"/>
          </a:solidFill>
          <a:ln>
            <a:solidFill>
              <a:srgbClr val="64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15369">
            <a:extLst>
              <a:ext uri="{FF2B5EF4-FFF2-40B4-BE49-F238E27FC236}">
                <a16:creationId xmlns:a16="http://schemas.microsoft.com/office/drawing/2014/main" id="{3DFA7865-60C1-AE9B-2828-9F6F17F146AD}"/>
              </a:ext>
            </a:extLst>
          </p:cNvPr>
          <p:cNvSpPr/>
          <p:nvPr/>
        </p:nvSpPr>
        <p:spPr>
          <a:xfrm rot="5400000">
            <a:off x="8927592" y="2844569"/>
            <a:ext cx="347472" cy="256032"/>
          </a:xfrm>
          <a:prstGeom prst="rightArrow">
            <a:avLst/>
          </a:prstGeom>
          <a:solidFill>
            <a:srgbClr val="646F79"/>
          </a:solidFill>
          <a:ln>
            <a:solidFill>
              <a:srgbClr val="64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506</Words>
  <Application>Microsoft Office PowerPoint</Application>
  <PresentationFormat>Widescreen</PresentationFormat>
  <Paragraphs>81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MS PGothic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Neon Dash</cp:lastModifiedBy>
  <cp:revision>150</cp:revision>
  <dcterms:created xsi:type="dcterms:W3CDTF">2013-12-12T18:46:00Z</dcterms:created>
  <dcterms:modified xsi:type="dcterms:W3CDTF">2026-08-21T14:15:36Z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65213F4408B643DDA790E6050D1A1189_13</vt:lpwstr>
  </property>
  <property fmtid="{D5CDD505-2E9C-101B-9397-08002B2CF9AE}" pid="3" name="KSOProductBuildVer">
    <vt:lpwstr>1033-12.1.0.28032</vt:lpwstr>
  </property>
</Properties>
</file>